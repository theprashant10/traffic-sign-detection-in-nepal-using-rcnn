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8" r:id="rId4"/>
    <p:sldId id="283" r:id="rId5"/>
    <p:sldId id="270" r:id="rId6"/>
    <p:sldId id="279" r:id="rId7"/>
    <p:sldId id="284" r:id="rId8"/>
    <p:sldId id="287" r:id="rId9"/>
    <p:sldId id="263" r:id="rId10"/>
    <p:sldId id="272" r:id="rId11"/>
    <p:sldId id="285" r:id="rId12"/>
    <p:sldId id="273" r:id="rId13"/>
    <p:sldId id="264" r:id="rId14"/>
    <p:sldId id="288" r:id="rId15"/>
    <p:sldId id="289" r:id="rId16"/>
    <p:sldId id="290" r:id="rId17"/>
    <p:sldId id="274" r:id="rId18"/>
    <p:sldId id="277" r:id="rId19"/>
    <p:sldId id="278" r:id="rId20"/>
    <p:sldId id="280" r:id="rId21"/>
    <p:sldId id="281" r:id="rId22"/>
    <p:sldId id="282" r:id="rId23"/>
    <p:sldId id="291" r:id="rId24"/>
    <p:sldId id="293" r:id="rId25"/>
    <p:sldId id="292" r:id="rId26"/>
    <p:sldId id="294" r:id="rId27"/>
    <p:sldId id="26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98" autoAdjust="0"/>
    <p:restoredTop sz="94660"/>
  </p:normalViewPr>
  <p:slideViewPr>
    <p:cSldViewPr>
      <p:cViewPr varScale="1">
        <p:scale>
          <a:sx n="82" d="100"/>
          <a:sy n="82" d="100"/>
        </p:scale>
        <p:origin x="122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CF73F-8F11-4F22-BE72-5F631647C651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82968-58EC-49EB-9D3F-63766A9887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8749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720A8-574D-4F18-A0B0-16AA287CFF67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C7F790-5E88-4A0B-9C66-10A4C8DD6C4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8890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44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C7F790-5E88-4A0B-9C66-10A4C8DD6C4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766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4B49B-BE2D-48A7-8483-D36A586DDB0C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51F80-A65D-4FA6-8709-DDCE552A6A2F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371600"/>
          </a:xfrm>
          <a:solidFill>
            <a:schemeClr val="bg1">
              <a:lumMod val="95000"/>
              <a:alpha val="59000"/>
            </a:schemeClr>
          </a:solidFill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496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0B620-AABB-4DC0-B407-F65006D8FFC6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90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585-9BD5-4253-8533-05EB83C6178A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30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C62A2-37A8-44D1-88C5-084F170B1CC6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5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DA199-0C3D-40CB-98D4-C9D13C84932C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134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5B36C-DD51-4D95-894B-1AE6760AB8FB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324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F9F90-23D9-495F-A1E7-C801CE476D16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52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BBC5D-C865-4402-8137-E949FE7B4E54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3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A7DBF9-2A13-4CCC-9C65-F76D810A0230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38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687C8-ACDD-4D91-B533-448059460A75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3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B021C5-8349-4975-BE4F-D276CED6564D}" type="datetime1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00" y="6356350"/>
            <a:ext cx="8763000" cy="365125"/>
          </a:xfrm>
          <a:prstGeom prst="rect">
            <a:avLst/>
          </a:prstGeom>
          <a:solidFill>
            <a:schemeClr val="tx2"/>
          </a:solidFill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Department of ICT, Cosmos College of Management and Technology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94686-EA6A-4A30-836A-59B2DA57F37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81000"/>
            <a:ext cx="914400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158" y="238125"/>
            <a:ext cx="1200150" cy="120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99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2526"/>
            <a:ext cx="9144000" cy="115904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71568"/>
            <a:ext cx="9144000" cy="657232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</p:txBody>
      </p:sp>
      <p:pic>
        <p:nvPicPr>
          <p:cNvPr id="1026" name="Picture 2" descr="C:\Users\Lenovo\Desktop\Cosmos CP\ccmt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526"/>
            <a:ext cx="4876800" cy="115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2400" y="1948934"/>
            <a:ext cx="3578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project(major) Final defense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2417213"/>
            <a:ext cx="8458200" cy="8677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“</a:t>
            </a:r>
            <a:r>
              <a:rPr lang="en-US" b="1" dirty="0" smtClean="0">
                <a:solidFill>
                  <a:schemeClr val="tx1"/>
                </a:solidFill>
              </a:rPr>
              <a:t>TRAFFIC SIGN DETECTION </a:t>
            </a:r>
            <a:r>
              <a:rPr lang="en-US" b="1" dirty="0">
                <a:solidFill>
                  <a:schemeClr val="tx1"/>
                </a:solidFill>
              </a:rPr>
              <a:t>IN NEPAL USING </a:t>
            </a:r>
            <a:r>
              <a:rPr lang="en-US" b="1" dirty="0" smtClean="0">
                <a:solidFill>
                  <a:schemeClr val="tx1"/>
                </a:solidFill>
              </a:rPr>
              <a:t>RCNN”  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997" y="210195"/>
            <a:ext cx="1371600" cy="1371600"/>
          </a:xfrm>
          <a:prstGeom prst="rect">
            <a:avLst/>
          </a:prstGeom>
        </p:spPr>
      </p:pic>
      <p:sp>
        <p:nvSpPr>
          <p:cNvPr id="11" name="Rectangle 3"/>
          <p:cNvSpPr>
            <a:spLocks noChangeArrowheads="1"/>
          </p:cNvSpPr>
          <p:nvPr/>
        </p:nvSpPr>
        <p:spPr bwMode="gray">
          <a:xfrm>
            <a:off x="275734" y="4162200"/>
            <a:ext cx="4080242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Members: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Abhishek </a:t>
            </a:r>
            <a:r>
              <a:rPr lang="en-US" alt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Joshi            200302</a:t>
            </a:r>
            <a:endParaRPr lang="en-US" alt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90000"/>
              </a:lnSpc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Prashant Phuyal          200324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Prashant Shrestha       </a:t>
            </a:r>
            <a:r>
              <a:rPr lang="en-US" alt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200325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tabLst>
                <a:tab pos="5029200" algn="l"/>
              </a:tabLst>
              <a:defRPr/>
            </a:pPr>
            <a:r>
              <a:rPr lang="en-US" altLang="en-US" sz="20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Bed Prakash </a:t>
            </a:r>
            <a:r>
              <a:rPr lang="en-US" altLang="en-US" sz="2000" b="1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shah        200344</a:t>
            </a:r>
            <a:endParaRPr lang="en-US" altLang="en-US" sz="20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Clr>
                <a:schemeClr val="tx2"/>
              </a:buClr>
              <a:defRPr/>
            </a:pPr>
            <a:endParaRPr lang="en-US" altLang="en-US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gray">
          <a:xfrm>
            <a:off x="5486400" y="4145264"/>
            <a:ext cx="3428999" cy="17810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alt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to: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ICT</a:t>
            </a:r>
          </a:p>
          <a:p>
            <a:pPr algn="ctr">
              <a:lnSpc>
                <a:spcPct val="90000"/>
              </a:lnSpc>
              <a:buClr>
                <a:schemeClr val="tx2"/>
              </a:buClr>
              <a:defRPr/>
            </a:pPr>
            <a:r>
              <a:rPr lang="en-US" alt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Cosmos College of Management and Technology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3571" y="5934670"/>
            <a:ext cx="31568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:  </a:t>
            </a:r>
            <a:r>
              <a:rPr lang="en-US" sz="2000" b="1" dirty="0" smtClean="0"/>
              <a:t>23 </a:t>
            </a:r>
            <a:r>
              <a:rPr lang="en-US" sz="2000" b="1" dirty="0"/>
              <a:t>July 2025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>
          <a:xfrm>
            <a:off x="0" y="6455297"/>
            <a:ext cx="9127299" cy="365125"/>
          </a:xfrm>
          <a:solidFill>
            <a:schemeClr val="tx2"/>
          </a:solidFill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Department of ICT, Cosmos College of Management and Technology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19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0" y="46037"/>
            <a:ext cx="9144000" cy="1371600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Traffic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Detection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67772530-8C7C-4E85-9457-A043C60FB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1417637"/>
            <a:ext cx="8659688" cy="4732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detection is a computer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vision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 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recognize road signs from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images. </a:t>
            </a: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vital role in modern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transportation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especially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 assistance and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8" y="1484785"/>
            <a:ext cx="4499991" cy="466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29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618856" cy="4525963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detection is essential for improving road safety and traffic management in Nepal.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urbanization and diverse traffic environments pose challenges for traditional detection methods.</a:t>
            </a:r>
          </a:p>
          <a:p>
            <a:pPr lvl="0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Employing advanced deep learning techniques like RCNN can enhance detection accuracy and reliability.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Traffic Sign Detection in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Nepal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47"/>
          <a:stretch/>
        </p:blipFill>
        <p:spPr>
          <a:xfrm>
            <a:off x="5483222" y="1720719"/>
            <a:ext cx="3331096" cy="367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8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</p:txBody>
      </p:sp>
      <p:pic>
        <p:nvPicPr>
          <p:cNvPr id="1028" name="Picture 4" descr="Road Sign Detection Object Detection Dataset and Pre-Trained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628800"/>
            <a:ext cx="3672408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179512" y="1628800"/>
            <a:ext cx="51845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deep learning-based system to detect Nepalese traffic signs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road safety using automated sign recognition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dataset of Nepal-specific traffic signs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BEA7DE0-5A9A-48B5-8BD2-D087A8CB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546848" cy="4525963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detection helps reduce accidents caused by missed or misunderstood signs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the development of intelligent transportation systems tailored for Nepal’s unique roads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 detection can assist autonomous vehicles and driver-assistance systems in Nepalese traffic conditions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29EC8B-4007-4ACA-BB63-35D61D6D8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BB26C-F1CB-412C-9499-2F818887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CB36B4-2514-454D-8674-D1655B330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Traffic Sign Detection in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Nepal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1648" y="1600200"/>
            <a:ext cx="3962400" cy="36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56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83488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= laptop with Intel processor i5 or more.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Frontend=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React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Backend=Python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Documentation=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-Office</a:t>
            </a:r>
          </a:p>
          <a:p>
            <a:pPr lvl="1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IDE</a:t>
            </a:r>
            <a:r>
              <a:rPr lang="en-US" sz="2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Colab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(Collaborator),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Equipment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35148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186808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studies used SVM, HOG, and CNN for sign detection.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and SSD models achieved real-time performance.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provides higher accuracy at the cost of speed.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focused on South Asian traffic sign datasets.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0753" y="7348245"/>
            <a:ext cx="3095007" cy="2952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054" name="Picture 6" descr="Sensors 23 04674 g001 5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772816"/>
            <a:ext cx="4248472" cy="4353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762872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Label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manual bounding box annotation.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annotations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.Jason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format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Focused on clarity and accuracy of labeling.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representation of different sign types and conditions</a:t>
            </a:r>
            <a:r>
              <a:rPr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Tools Used</a:t>
            </a:r>
          </a:p>
        </p:txBody>
      </p:sp>
      <p:pic>
        <p:nvPicPr>
          <p:cNvPr id="4098" name="Picture 2" descr="The Comprehensive Guide to Image Annotatio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57"/>
          <a:stretch/>
        </p:blipFill>
        <p:spPr bwMode="auto">
          <a:xfrm>
            <a:off x="5364088" y="1600200"/>
            <a:ext cx="3528392" cy="3484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0" y="1524000"/>
            <a:ext cx="4644008" cy="4602163"/>
          </a:xfrm>
        </p:spPr>
        <p:txBody>
          <a:bodyPr>
            <a:normAutofit fontScale="92500" lnSpcReduction="2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was collected from various Nepalese roads, capturing different traffic sign types and conditions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were annotated with bounding boxes and labels for training the RCNN model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techniques were applied to increase dataset diversity and robustness.</a:t>
            </a:r>
          </a:p>
          <a:p>
            <a:pPr marL="0" indent="0">
              <a:buNone/>
            </a:pP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and Preparation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504730"/>
            <a:ext cx="4716016" cy="42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41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282EB-455D-4FD6-A06D-9CFB4BEB5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9D60D3-578A-4C5F-984D-7708B831C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82FA421-E238-4A52-8DD3-029B346D6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RCNN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Region-based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457200" y="1600201"/>
            <a:ext cx="4546848" cy="4277072"/>
          </a:xfrm>
        </p:spPr>
        <p:txBody>
          <a:bodyPr>
            <a:normAutofit fontScale="85000"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is a deep learning framework designed for accurate object detection tasks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combines region proposal algorithms with convolutional neural networks for precise localization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has been widely successful in various object detection applications, including traffic signs.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484177"/>
            <a:ext cx="4032448" cy="345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01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1"/>
            <a:ext cx="8507288" cy="2116832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Search proposes candidate object regions.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extracts features from each region.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classifies each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region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refines bounding boxes.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region proposal with deep feature learning.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 Architecture in Detail</a:t>
            </a:r>
          </a:p>
        </p:txBody>
      </p:sp>
      <p:pic>
        <p:nvPicPr>
          <p:cNvPr id="3076" name="Picture 4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573016"/>
            <a:ext cx="8208912" cy="2020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1E0928-AABB-4DDE-9846-DDCF2D59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165A3-EEB4-451E-8877-54C1D76DE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3B98728-4A38-4351-8AB1-004CB05F4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RCNN for Nepalese Traffic Sign Detection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5050904" cy="4525963"/>
          </a:xfrm>
        </p:spPr>
        <p:txBody>
          <a:bodyPr>
            <a:normAutofit fontScale="77500" lnSpcReduction="20000"/>
          </a:bodyPr>
          <a:lstStyle/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RCNN’s high accuracy makes it suitable for complex and diverse traffic sign environments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ability to generate region proposals helps detect small and partially occluded signs</a:t>
            </a:r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RCNN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fine-tuned with Nepal-specific datasets to adapt to local traffic sign characteristics.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727" t="33759" r="1350" b="13192"/>
          <a:stretch/>
        </p:blipFill>
        <p:spPr>
          <a:xfrm>
            <a:off x="5148064" y="1600200"/>
            <a:ext cx="3888432" cy="348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289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RCNN model was trained using transfer learning on a pre-existing convolutional neural network backbone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 such as learning rate, batch size, and epochs were optimized for best performance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model was validated on separate test data to evaluate detection accuracy and speed.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and Implementation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999"/>
          <a:stretch/>
        </p:blipFill>
        <p:spPr>
          <a:xfrm>
            <a:off x="457200" y="4149079"/>
            <a:ext cx="8435280" cy="1977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086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mean Average Precision (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93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96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%,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94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detecting partially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occluded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signs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Accuracy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042792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dataset size affects generalization.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slows down on low-performance hardware.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Misclassification under poor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lighting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visibility </a:t>
            </a:r>
            <a:r>
              <a:rPr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integration with real-time traffic monitoring yet.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Project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628800"/>
            <a:ext cx="3907160" cy="43204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4474840" cy="4525963"/>
          </a:xfrm>
        </p:spPr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Driver-assistance systems for Nepalese vehicles.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violation detection and reporting.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autonomous vehicle navigation.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traffic infrastructure enhancement.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632" y="44624"/>
            <a:ext cx="9144000" cy="1371600"/>
          </a:xfrm>
        </p:spPr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Applications</a:t>
            </a:r>
          </a:p>
        </p:txBody>
      </p:sp>
      <p:pic>
        <p:nvPicPr>
          <p:cNvPr id="5122" name="Picture 2" descr="Traffic Signs Detection for Real-World Application of an Advanced Driving  Assisting System Using Deep Learning | Neural Processing Let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1600200"/>
            <a:ext cx="3816424" cy="36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B0BA85-F6D8-4E97-B3A0-C49DD7F69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978896" cy="4525963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the dataset with more diverse and challenging traffic sign images is essential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Integrating the RCNN-based system with existing traffic monitoring infrastructure can be beneficial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Further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should explore lightweight models for deployment on resource-constrained devices.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57D09-CFDC-4BE4-BB56-D76E2A96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9E214-BB9F-4B4D-B9F5-E2CE6A85C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Recommendations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5856" y="908720"/>
            <a:ext cx="7272808" cy="5659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86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35D0B-2B10-48A2-AE94-21099ED5D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4B15D9-23EE-41CD-A121-2E17083E9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0128F01-F7BA-48A0-A608-60B76AD8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29" y="1815939"/>
            <a:ext cx="550174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00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C5A65E-C9C3-49C4-981F-FA5381E0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2C133-A856-4F88-9AF7-8FACED02C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1D281E6-8EC1-4C95-91A0-584FDDAA2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39" y="116632"/>
            <a:ext cx="9144000" cy="1371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41" y="1844825"/>
            <a:ext cx="6644317" cy="4104456"/>
          </a:xfrm>
        </p:spPr>
      </p:pic>
    </p:spTree>
    <p:extLst>
      <p:ext uri="{BB962C8B-B14F-4D97-AF65-F5344CB8AC3E}">
        <p14:creationId xmlns:p14="http://schemas.microsoft.com/office/powerpoint/2010/main" val="243200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Content Placeholder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561058"/>
            <a:ext cx="8229600" cy="218095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7" y="3933056"/>
            <a:ext cx="8319728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7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-108520" y="138161"/>
            <a:ext cx="9144000" cy="1371600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7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8229600" cy="3888431"/>
          </a:xfrm>
        </p:spPr>
      </p:pic>
    </p:spTree>
    <p:extLst>
      <p:ext uri="{BB962C8B-B14F-4D97-AF65-F5344CB8AC3E}">
        <p14:creationId xmlns:p14="http://schemas.microsoft.com/office/powerpoint/2010/main" val="106304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00200"/>
            <a:ext cx="3312368" cy="434907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709" y="2072230"/>
            <a:ext cx="5228492" cy="3877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375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96" y="1600200"/>
            <a:ext cx="7356608" cy="4525963"/>
          </a:xfrm>
        </p:spPr>
      </p:pic>
    </p:spTree>
    <p:extLst>
      <p:ext uri="{BB962C8B-B14F-4D97-AF65-F5344CB8AC3E}">
        <p14:creationId xmlns:p14="http://schemas.microsoft.com/office/powerpoint/2010/main" val="2019503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Completed</a:t>
            </a:r>
            <a:endParaRPr lang="en-US" sz="3200" b="1" dirty="0"/>
          </a:p>
        </p:txBody>
      </p:sp>
      <p:pic>
        <p:nvPicPr>
          <p:cNvPr id="6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28800"/>
            <a:ext cx="6408712" cy="4525963"/>
          </a:xfrm>
        </p:spPr>
      </p:pic>
    </p:spTree>
    <p:extLst>
      <p:ext uri="{BB962C8B-B14F-4D97-AF65-F5344CB8AC3E}">
        <p14:creationId xmlns:p14="http://schemas.microsoft.com/office/powerpoint/2010/main" val="42756085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7" y="1600201"/>
            <a:ext cx="6696745" cy="434908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40807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ICT, Cosmos College of Management and Technology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616" y="1700808"/>
            <a:ext cx="6768752" cy="4425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8150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ICT, Cosmos College of Management and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94686-EA6A-4A30-836A-59B2DA57F37C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2209800"/>
            <a:ext cx="9144000" cy="2819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accent3">
                    <a:lumMod val="50000"/>
                  </a:schemeClr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528341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3006</TotalTime>
  <Words>914</Words>
  <Application>Microsoft Office PowerPoint</Application>
  <PresentationFormat>On-screen Show (4:3)</PresentationFormat>
  <Paragraphs>149</Paragraphs>
  <Slides>27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Department of ICT</vt:lpstr>
      <vt:lpstr>Traffic Sign Detection </vt:lpstr>
      <vt:lpstr>Introduction to Traffic Sign Detection in  Nepal</vt:lpstr>
      <vt:lpstr>Objective of the Project</vt:lpstr>
      <vt:lpstr>Importance of Traffic Sign Detection in  Nepal </vt:lpstr>
      <vt:lpstr>Tools and Equipment</vt:lpstr>
      <vt:lpstr>Literature Review</vt:lpstr>
      <vt:lpstr>Data Annotation Tools Used</vt:lpstr>
      <vt:lpstr>Dataset Collection and Preparation</vt:lpstr>
      <vt:lpstr>Overview of RCNN (Region-based  Convolutional Neural Network)</vt:lpstr>
      <vt:lpstr>RCNN Architecture in Detail</vt:lpstr>
      <vt:lpstr>Why Use RCNN for Nepalese Traffic Sign Detection</vt:lpstr>
      <vt:lpstr>Model Training and Implementation</vt:lpstr>
      <vt:lpstr>Results and Accuracy</vt:lpstr>
      <vt:lpstr>Limitations of the Project</vt:lpstr>
      <vt:lpstr>Real-world Applications</vt:lpstr>
      <vt:lpstr>Future Work and Recommendations</vt:lpstr>
      <vt:lpstr>Work Completed</vt:lpstr>
      <vt:lpstr>Work Completed</vt:lpstr>
      <vt:lpstr>Work Completed</vt:lpstr>
      <vt:lpstr>Work Completed</vt:lpstr>
      <vt:lpstr>Work Completed</vt:lpstr>
      <vt:lpstr>Work Completed</vt:lpstr>
      <vt:lpstr>Work Completed</vt:lpstr>
      <vt:lpstr>Output</vt:lpstr>
      <vt:lpstr>Output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A C E R</cp:lastModifiedBy>
  <cp:revision>95</cp:revision>
  <dcterms:created xsi:type="dcterms:W3CDTF">2023-05-13T12:37:34Z</dcterms:created>
  <dcterms:modified xsi:type="dcterms:W3CDTF">2025-07-23T15:50:37Z</dcterms:modified>
</cp:coreProperties>
</file>